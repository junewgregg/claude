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ASP2616  —  DGKζ Inhibitor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417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Astellas  ·  Small molecule, oral (10 mg / 50 mg tablets)  ·  Advanced solid tumors  ·  Source: ASP2616 non-confidential summary, v. 12-Jun-2026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417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 / 3.00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8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23944" y="14173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  </a:t>
            </a:r>
            <a:pPr indent="0" marL="0">
              <a:buNone/>
            </a:pPr>
            <a:r>
              <a:rPr lang="en-US" sz="14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— Roche B2B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14173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CF3E6"/>
          </a:solidFill>
          <a:ln w="12700">
            <a:solidFill>
              <a:srgbClr val="EAD5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50224" y="14173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 </a:t>
            </a:r>
            <a:pPr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 lapsed 08-May-26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710160" y="141732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56464" y="14173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RUNWAY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2041 / 2043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16712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&amp; mechanism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478024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DGKζ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(diacylglycerol kinase zeta) — intracellular negative regulator of TCR signaling that converts DAG to phosphatidic acid. Inhibition sustains DAG-driven RAS/ERK/AP-1 and PKCθ/IKK/NF-κB signaling, restoring T-cell activation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of and independent from PD-1 blockade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0488" y="216712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0488" y="2478024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approved DGK inhibitor. Bayer's selective DGKζ asset (veludacigib / BAY 2965501) was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discontinued Nov-2025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BMS-986408 and Incyte's INCB177054 both continue as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DGKα/ζ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inhibitors. Every asset still advancing is dual; both selective-ζ assets have been shelved. See landscape slide.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25196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62856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PD-1-resistant solid tumors — NSCLC, melanoma, RCC, HNSCC and selected gastric / other tumors. Addressable market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$1.5–3B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Monotherapy vs. IO-combination positioning is unresolved; a combination path adds checkpoint-partner dependency and dilutes the mono &gt; combo preference in the thesis.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4142232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0488" y="425196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4562856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WO-2022114164 (filed 29-Nov-2021) and WO-2023248109 (filed 19-Jun-2023) → nominal expiry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2041 / 2043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15+ year runway clears the ≥10-year stage gate. Non-con does not state the COM vs. MOU split, national-phase status, or FTO position — confirm in the confidential review.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227064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633679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6647688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 submitted 31-May-2022; study-may-proceed letter 30-Jun-2022. Asset was then deprioritized —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site initiation visits, no subject screening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IND inactivated 08-May-2026. Zero human exposure to date; latest development phase is stated as pre-clinical. Reactivation of the IND is required before dosing.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6227064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0488" y="633679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90488" y="6647688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 DGKζ inhibition vs. other DGK subtypes; reverses T-cell exhaustion; tumor growth inhibition in TIL-poor and inflamed syngeneic models. Oral BA moderate–high; CYP2D6/3A4 metabolism with time-dependent CYP2D6 inhibition. Non-genotoxic; 4-week rat and cyno tox findings reversible.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8485632"/>
            <a:ext cx="10515600" cy="1298448"/>
          </a:xfrm>
          <a:prstGeom prst="roundRect">
            <a:avLst>
              <a:gd name="adj" fmla="val 3521"/>
            </a:avLst>
          </a:prstGeom>
          <a:solidFill>
            <a:srgbClr val="E9F1F1"/>
          </a:solidFill>
          <a:ln w="15875">
            <a:solidFill>
              <a:srgbClr val="317A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8577072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8851392"/>
            <a:ext cx="10113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confidential package, but lead the 2–3 h SME review with one question: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selective DGKζ inhibition a viable premise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published pharmacology favours dual α/ζ and both selective-ζ assets have been shelved by their owners? If that answer holds up, route to the Roche build-to-buy lane — oncology slots are reserved. Brain penetrance and selectivity are now second-order questions.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1338560" y="2057400"/>
            <a:ext cx="64008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38560" y="2057400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38560" y="2313432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521440" y="20574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TRIAGE SCORE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539728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5115032" y="2532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5846552" y="2532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6852392" y="2532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393424" y="2843784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539728" y="2843784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stage &amp; POC feasibility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5115032" y="28437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5846552" y="2953512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45" name="Shape 43"/>
          <p:cNvSpPr/>
          <p:nvPr/>
        </p:nvSpPr>
        <p:spPr>
          <a:xfrm>
            <a:off x="16157448" y="2953512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46" name="Shape 44"/>
          <p:cNvSpPr/>
          <p:nvPr/>
        </p:nvSpPr>
        <p:spPr>
          <a:xfrm>
            <a:off x="16468344" y="295351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6852392" y="28437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539728" y="324612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Therapeutic-area fit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5115032" y="3246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5846552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1" name="Shape 49"/>
          <p:cNvSpPr/>
          <p:nvPr/>
        </p:nvSpPr>
        <p:spPr>
          <a:xfrm>
            <a:off x="16157448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2" name="Shape 50"/>
          <p:cNvSpPr/>
          <p:nvPr/>
        </p:nvSpPr>
        <p:spPr>
          <a:xfrm>
            <a:off x="16468344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6852392" y="32461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1393424" y="3648456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539728" y="3648456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Translational readiness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5115032" y="36484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5846552" y="3758184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58" name="Shape 56"/>
          <p:cNvSpPr/>
          <p:nvPr/>
        </p:nvSpPr>
        <p:spPr>
          <a:xfrm>
            <a:off x="16157448" y="3758184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59" name="Shape 57"/>
          <p:cNvSpPr/>
          <p:nvPr/>
        </p:nvSpPr>
        <p:spPr>
          <a:xfrm>
            <a:off x="16468344" y="3758184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6852392" y="364845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1539728" y="4050792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&amp; unmet need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15115032" y="40507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5846552" y="4160520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64" name="Shape 62"/>
          <p:cNvSpPr/>
          <p:nvPr/>
        </p:nvSpPr>
        <p:spPr>
          <a:xfrm>
            <a:off x="16157448" y="4160520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5" name="Shape 63"/>
          <p:cNvSpPr/>
          <p:nvPr/>
        </p:nvSpPr>
        <p:spPr>
          <a:xfrm>
            <a:off x="16468344" y="4160520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6852392" y="40507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1393424" y="4453128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1539728" y="445312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strength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5115032" y="44531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5846552" y="4562856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71" name="Shape 69"/>
          <p:cNvSpPr/>
          <p:nvPr/>
        </p:nvSpPr>
        <p:spPr>
          <a:xfrm>
            <a:off x="16157448" y="4562856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72" name="Shape 70"/>
          <p:cNvSpPr/>
          <p:nvPr/>
        </p:nvSpPr>
        <p:spPr>
          <a:xfrm>
            <a:off x="16468344" y="4562856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6852392" y="44531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11539728" y="4855464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economics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15115032" y="4855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5846552" y="4965192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77" name="Shape 75"/>
          <p:cNvSpPr/>
          <p:nvPr/>
        </p:nvSpPr>
        <p:spPr>
          <a:xfrm>
            <a:off x="16157448" y="4965192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78" name="Shape 76"/>
          <p:cNvSpPr/>
          <p:nvPr/>
        </p:nvSpPr>
        <p:spPr>
          <a:xfrm>
            <a:off x="16468344" y="496519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6852392" y="48554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1393424" y="5257800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1539728" y="525780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endpoint fit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15115032" y="52578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5846552" y="5367528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84" name="Shape 82"/>
          <p:cNvSpPr/>
          <p:nvPr/>
        </p:nvSpPr>
        <p:spPr>
          <a:xfrm>
            <a:off x="16157448" y="5367528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85" name="Shape 83"/>
          <p:cNvSpPr/>
          <p:nvPr/>
        </p:nvSpPr>
        <p:spPr>
          <a:xfrm>
            <a:off x="16468344" y="5367528"/>
            <a:ext cx="256032" cy="182880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6852392" y="52578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1356848" y="5751576"/>
            <a:ext cx="636422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11521440" y="5751576"/>
            <a:ext cx="6035040" cy="18288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152144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LSB portfolio lane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(oncology gate applied)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16002000" y="5806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 / 3.00</a:t>
            </a:r>
            <a:endParaRPr lang="en-US" sz="1500" dirty="0"/>
          </a:p>
        </p:txBody>
      </p:sp>
      <p:sp>
        <p:nvSpPr>
          <p:cNvPr id="91" name="Text 89"/>
          <p:cNvSpPr txBox="1"/>
          <p:nvPr/>
        </p:nvSpPr>
        <p:spPr>
          <a:xfrm>
            <a:off x="11521440" y="6099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 build-to-buy lane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(oncology is in scope)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16002000" y="6099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 / 3.00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11338560" y="6675120"/>
            <a:ext cx="6400800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338560" y="6675120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338560" y="6931152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1521440" y="6675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&amp; STAGE-GATE CHECK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11539728" y="7168896"/>
            <a:ext cx="5998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molecule, oral — modality gate passed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solid tumor — hard gate → Roche build-to-buy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runway 15+ yrs; non-confidential briefing provided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IND-cleared but inactivated — conditional on reactivation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signal: 2 of 3 sponsors exited selective-ζ in 12 mths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11338560" y="8485632"/>
            <a:ext cx="64008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338560" y="8485632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338560" y="8741664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1521440" y="8485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FOR THE CONFIDENTIAL REVIEW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11539728" y="8979408"/>
            <a:ext cx="5998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selective ζ viable, or is dual α/ζ coverage required?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Bayer stop — portfolio triage, or Phase 1 data?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Kp,uu and CNS margin; DGKζ:DGKα selectivity ratio</a:t>
            </a:r>
            <a:endParaRPr lang="en-US" sz="1250" dirty="0"/>
          </a:p>
        </p:txBody>
      </p:sp>
      <p:sp>
        <p:nvSpPr>
          <p:cNvPr id="103" name="Text 101"/>
          <p:cNvSpPr txBox="1"/>
          <p:nvPr/>
        </p:nvSpPr>
        <p:spPr>
          <a:xfrm>
            <a:off x="548640" y="9893808"/>
            <a:ext cx="1371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LevelSet Bio — Asset Triage Scorecard   |   Scoring rubric per LSB Disease Priorities for Acquisition (7.17.26)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17373600" y="9893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DGK Competitive Landscape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417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sources, verified September 2026 — the field has consolidated around dual DGKα/ζ inhibition, and both selective-ζ assets are shelved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91940" cy="3291840"/>
          </a:xfrm>
          <a:prstGeom prst="roundRect">
            <a:avLst>
              <a:gd name="adj" fmla="val 1389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19656"/>
            <a:ext cx="3689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ASP2616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3689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Astellas  ·  selective DGKζ, oral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2441448"/>
            <a:ext cx="3689604" cy="329184"/>
          </a:xfrm>
          <a:prstGeom prst="roundRect">
            <a:avLst>
              <a:gd name="adj" fmla="val 16667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441448"/>
            <a:ext cx="3689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— SHELVED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98648"/>
            <a:ext cx="36896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 cleared Jun-2022 and never used — no site initiations, no patients dosed. IND inactivated 08-May-2026. Full preclinical package: pharmacology, ADME, reversible 4-week rat and cyno tox.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14900" y="1691640"/>
            <a:ext cx="4091940" cy="3291840"/>
          </a:xfrm>
          <a:prstGeom prst="roundRect">
            <a:avLst>
              <a:gd name="adj" fmla="val 1389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16068" y="1819656"/>
            <a:ext cx="3689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Veludacigib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16068" y="2130552"/>
            <a:ext cx="3689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Bayer / DKFZ  ·  selective DGKζ, oral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16068" y="2441448"/>
            <a:ext cx="3689604" cy="329184"/>
          </a:xfrm>
          <a:prstGeom prst="roundRect">
            <a:avLst>
              <a:gd name="adj" fmla="val 16667"/>
            </a:avLst>
          </a:prstGeom>
          <a:solidFill>
            <a:srgbClr val="FBEAEC"/>
          </a:solidFill>
          <a:ln w="12700">
            <a:solidFill>
              <a:srgbClr val="E8BF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16068" y="2441448"/>
            <a:ext cx="3689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DISCONTINUED NOV-2025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16068" y="2898648"/>
            <a:ext cx="36896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2965501. Phase 1 FIH (NCT05614102) in NSCLC, gastric/GEJ, ccRCC and melanoma. Dropped in an early-stage oncology clear-out alongside DGKα asset BAY 2862789. Bayer cited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refocus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GU/GI/lung — no safety or efficacy failure was disclosed.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81160" y="1691640"/>
            <a:ext cx="4091940" cy="3291840"/>
          </a:xfrm>
          <a:prstGeom prst="roundRect">
            <a:avLst>
              <a:gd name="adj" fmla="val 1389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82328" y="1819656"/>
            <a:ext cx="3689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BMS-986408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2130552"/>
            <a:ext cx="3689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Myers Squibb  ·  dual α/ζ, oral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82328" y="2441448"/>
            <a:ext cx="3689604" cy="329184"/>
          </a:xfrm>
          <a:prstGeom prst="roundRect">
            <a:avLst>
              <a:gd name="adj" fmla="val 16667"/>
            </a:avLst>
          </a:prstGeom>
          <a:solidFill>
            <a:srgbClr val="E8F3E9"/>
          </a:solidFill>
          <a:ln w="12700">
            <a:solidFill>
              <a:srgbClr val="BFD9C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82328" y="2441448"/>
            <a:ext cx="3689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— PHASE 1/2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482328" y="2898648"/>
            <a:ext cx="36896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First-in-class dual DGKα/ζ inhibitor. Phase 1/2 (NCT05407675) as monotherapy and with nivolumab, and with nivolumab + ipilimumab, in advanced solid tumors. Discovery published 2025 in Cancer Immunol Res and J Med Chem.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3647420" y="1691640"/>
            <a:ext cx="4091940" cy="3291840"/>
          </a:xfrm>
          <a:prstGeom prst="roundRect">
            <a:avLst>
              <a:gd name="adj" fmla="val 1389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848588" y="1819656"/>
            <a:ext cx="3689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INCB177054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848588" y="2130552"/>
            <a:ext cx="3689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Incyte  ·  dual α/ζ, oral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3848588" y="2441448"/>
            <a:ext cx="3689604" cy="329184"/>
          </a:xfrm>
          <a:prstGeom prst="roundRect">
            <a:avLst>
              <a:gd name="adj" fmla="val 16667"/>
            </a:avLst>
          </a:prstGeom>
          <a:solidFill>
            <a:srgbClr val="FCF3E6"/>
          </a:solidFill>
          <a:ln w="12700">
            <a:solidFill>
              <a:srgbClr val="EAD5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848588" y="2441448"/>
            <a:ext cx="3689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/ DISCLOSED 2025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3848588" y="2898648"/>
            <a:ext cx="36896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 oral dual DGKα/ζ inhibitor; preclinical disclosure at AACR 2025. Also emerging: ISM4312A (Insilico, DGKα-selective, preclinical) and DGK degraders in academic preprints — a modality that would reset the field again.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719072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57800"/>
            <a:ext cx="1719072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13832"/>
            <a:ext cx="1719072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257800"/>
            <a:ext cx="1682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ASP2616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5824728"/>
            <a:ext cx="16678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in the original thesis may be the liability.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DGKζ inhibition was framed as a strength. The published pharmacology now points the other way: a 2026 J Pharmacol Exp Ther study reports that selective DGKζ inhibition produced only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</a:t>
            </a:r>
            <a:pPr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effects on TCR-mediated activity and DGKα inhibition alone had minimal effect, while dual α/ζ inhibition drove the largest gains in cytokine production and tumor-cell killing — including in TILs from NSCLC biopsies.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three sponsors have exited selective ζ within twelve months.  </a:t>
            </a:r>
            <a:pPr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Bayer discontinued veludacigib in Nov-2025; Astellas let this IND lapse in May-2026. Everything still advancing — BMS, Incyte — is dual α/ζ. Neither exit was attributed to a disclosed safety or efficacy failure, so this is a pattern to explain, not yet a verdict.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neurotoxicity premise is unverified.  </a:t>
            </a:r>
            <a:pPr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source was found for a class neurotoxicity signal or for moderate clinical efficacy; no Phase 1 data have been reported for either program. Bayer's disclosed preclinical toxicology was low-grade gastrointestinal. If that read came from a non-public source it should be recorded as such — it is currently carrying weight the public evidence does not support.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 on the score: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drops from 2 to 1 (LSB lane 1.85 → 1.65). Translational readiness is held at 2 — the DAG/TCR axis is validated biology and the open question is isoform coverage, not mechanism — so the same finding is not counted twice.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8979408"/>
            <a:ext cx="1719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AACR Cancer Res ND04 (BAY 2965501); Cancer Immunol Res 2025;13(9):1342 and J Med Chem 2025;68(20):21840 (BMS-986408); AACR 2025 abstr. 3789 (INCB177054); J Pharmacol Exp Ther 2026, PMID 42068678; FierceBiotech 12-Nov-2025 (Bayer discontinuation). Trial registry records were not directly reachable from this session.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9893808"/>
            <a:ext cx="1371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LevelSet Bio — Asset Triage Scorecard   |   Scoring rubric per LSB Disease Priorities for Acquisition (7.17.26)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0" y="9893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Key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417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asset scorecard in this deck is rated — criteria and weights per LSB Disease Priorities for Acquisition (7.17.26), slide 4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7190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88720"/>
                <a:gridCol w="6172200"/>
                <a:gridCol w="6172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3 — ideal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0 — disqualifier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stage &amp; POC feasibility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IND-ready → Phase 2-ready; clinical POC (Phase-2 completion) achievable in &lt;5 years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Discovery-stage, or POC requires Phase 3 / open-ended 8–10 year timeline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Therapeutic-area 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In-scope, commercially attractive area (immunology, CNS &amp; specialty, select metabolic e.g. obesity/T2D)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Oncology (reserved for Roche) or Phase-3-POC area (MASH, neurodegeneration, cardio-renal)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Translational readiness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MoA with defined, biomarker-driven patient selection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Poorly understood MoA; no biomarker or clinical validation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Differentiation &amp; unmet need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Best-in-class vs. SOC &amp; pipeline; addresses clear unmet need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Marginally differentiated 'me-too'; crowded standard of care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strength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Composition-of-matter + FTO; long IP life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or short IP life; freedom-to-operate 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 economics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upfront, minimal/no royalties; right-sized capital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upfront / heavy royalties; overcapitalized program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&amp; endpoint 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Pharma-aligned endpoints; clear regulatory path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Non-pharma-aligned endpoints; unclear regulatory path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7190720" cy="27432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858000"/>
            <a:ext cx="8321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6858000"/>
            <a:ext cx="832104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7114032"/>
            <a:ext cx="832104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685800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GATES  —  AUTO-EXCLUDE REGARDLESS OF SCORE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7388352"/>
            <a:ext cx="7918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Non–small-molecule modality (biologics, mAbs, ADCs, RNA, cell &amp; gene)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assets — reserved for Roche's build-to-buy; scored, then flagged, not dropped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418320" y="6858000"/>
            <a:ext cx="8321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18320" y="6858000"/>
            <a:ext cx="832104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418320" y="7114032"/>
            <a:ext cx="832104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0" y="685800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GATES  —  ALL MUST PASS TO ADVANCE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19488" y="7388352"/>
            <a:ext cx="7918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licensing · ≥10-year IP runway · COM patent · non-confidential briefing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modality (no cell/gene) · IND-cleared or Phase 1 data-ready · no Gensci assets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8458200"/>
            <a:ext cx="17190720" cy="868680"/>
          </a:xfrm>
          <a:prstGeom prst="roundRect">
            <a:avLst>
              <a:gd name="adj" fmla="val 5263"/>
            </a:avLst>
          </a:prstGeom>
          <a:solidFill>
            <a:srgbClr val="E9F1F1"/>
          </a:solidFill>
          <a:ln w="15875">
            <a:solidFill>
              <a:srgbClr val="317A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8549640"/>
            <a:ext cx="1673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Two-lane scoring.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assets are scored twice: an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LSB portfolio score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therapeutic-area fit rated 0 (the reservation applied), and a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 build-to-buy score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same criterion rated on merit. The gap between the two numbers is the cost of the reservation — it makes visible which assets are only excluded because the oncology slots are held, and which are weak on their own terms.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9893808"/>
            <a:ext cx="1371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LevelSet Bio — Asset Triage Scorecard   |   Scoring rubric per LSB Disease Priorities for Acquisition (7.17.26)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0" y="9893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name  —  target / mechanism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417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Originator  ·  Modality and formulation  ·  Lead indication  ·  Source document and version date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417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/ 3.00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23944" y="14173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flag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14173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50224" y="14173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phase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710160" y="141732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9F1F1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56464" y="14173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RUNWAY  </a:t>
            </a:r>
            <a:pPr indent="0" marL="0">
              <a:buNone/>
            </a:pPr>
            <a:r>
              <a:rPr lang="en-US" sz="1400" b="1" dirty="0">
                <a:solidFill>
                  <a:srgbClr val="22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16712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&amp; mechanism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478024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Target, biology, and why inhibiting or engaging it changes disease course. Modality, route, formulation. Keep to what the source document actually states.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0488" y="216712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0488" y="2478024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agents against the target. Named competitors by phase and sponsor. Class-wide liabilities seen to date. The one or two properties that decide who wins.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25196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62856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population and indications. Market size with the basis for the estimate. Monotherapy vs. combination positioning and any partner dependency it creates.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4142232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0488" y="425196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4562856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families with filing dates and nominal expiry. COM vs. MOU split. National-phase status, FTO, and any encumbrance. Note explicitly what the source does not disclose.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227064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633679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6647688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filings and dates. Patients dosed, if any. Efficacy and safety read-outs. If the asset has never been in humans, say so plainly rather than implying data exist.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6227064"/>
            <a:ext cx="5074920" cy="1883664"/>
          </a:xfrm>
          <a:prstGeom prst="roundRect">
            <a:avLst>
              <a:gd name="adj" fmla="val 2427"/>
            </a:avLst>
          </a:prstGeom>
          <a:solidFill>
            <a:srgbClr val="F6FAFA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0488" y="633679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90488" y="6647688"/>
            <a:ext cx="46725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Pharmacology, in vivo efficacy models, ADME, and toxicology. Reversibility of tox findings. Anything that would gate a first-in-human dose.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8485632"/>
            <a:ext cx="10515600" cy="1298448"/>
          </a:xfrm>
          <a:prstGeom prst="roundRect">
            <a:avLst>
              <a:gd name="adj" fmla="val 3521"/>
            </a:avLst>
          </a:prstGeom>
          <a:solidFill>
            <a:srgbClr val="E9F1F1"/>
          </a:solidFill>
          <a:ln w="15875">
            <a:solidFill>
              <a:srgbClr val="317A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8577072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1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8851392"/>
            <a:ext cx="10113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decision, stated as an action: request the confidential package, pass, or advance to full diligence. Name the lane (LSB portfolio vs. Roche build-to-buy) and the specific gates the confidential data must clear.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1338560" y="2057400"/>
            <a:ext cx="64008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38560" y="2057400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38560" y="2313432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521440" y="20574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TRIAGE SCORE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539728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5115032" y="2532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5846552" y="2532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6852392" y="2532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393424" y="2843784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539728" y="2843784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stage &amp; POC feasibility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5115032" y="28437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5846552" y="295351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45" name="Shape 43"/>
          <p:cNvSpPr/>
          <p:nvPr/>
        </p:nvSpPr>
        <p:spPr>
          <a:xfrm>
            <a:off x="16157448" y="295351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46" name="Shape 44"/>
          <p:cNvSpPr/>
          <p:nvPr/>
        </p:nvSpPr>
        <p:spPr>
          <a:xfrm>
            <a:off x="16468344" y="295351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6852392" y="28437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539728" y="324612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Therapeutic-area fit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5115032" y="3246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5846552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1" name="Shape 49"/>
          <p:cNvSpPr/>
          <p:nvPr/>
        </p:nvSpPr>
        <p:spPr>
          <a:xfrm>
            <a:off x="16157448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2" name="Shape 50"/>
          <p:cNvSpPr/>
          <p:nvPr/>
        </p:nvSpPr>
        <p:spPr>
          <a:xfrm>
            <a:off x="16468344" y="335584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6852392" y="32461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1393424" y="3648456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539728" y="3648456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Translational readiness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5115032" y="36484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5846552" y="3758184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8" name="Shape 56"/>
          <p:cNvSpPr/>
          <p:nvPr/>
        </p:nvSpPr>
        <p:spPr>
          <a:xfrm>
            <a:off x="16157448" y="3758184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59" name="Shape 57"/>
          <p:cNvSpPr/>
          <p:nvPr/>
        </p:nvSpPr>
        <p:spPr>
          <a:xfrm>
            <a:off x="16468344" y="3758184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6852392" y="364845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1539728" y="4050792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&amp; unmet need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15115032" y="40507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5846552" y="4160520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4" name="Shape 62"/>
          <p:cNvSpPr/>
          <p:nvPr/>
        </p:nvSpPr>
        <p:spPr>
          <a:xfrm>
            <a:off x="16157448" y="4160520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5" name="Shape 63"/>
          <p:cNvSpPr/>
          <p:nvPr/>
        </p:nvSpPr>
        <p:spPr>
          <a:xfrm>
            <a:off x="16468344" y="4160520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6852392" y="40507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1393424" y="4453128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1539728" y="445312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strength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5115032" y="44531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5846552" y="4562856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1" name="Shape 69"/>
          <p:cNvSpPr/>
          <p:nvPr/>
        </p:nvSpPr>
        <p:spPr>
          <a:xfrm>
            <a:off x="16157448" y="4562856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2" name="Shape 70"/>
          <p:cNvSpPr/>
          <p:nvPr/>
        </p:nvSpPr>
        <p:spPr>
          <a:xfrm>
            <a:off x="16468344" y="4562856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6852392" y="44531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11539728" y="4855464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economics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15115032" y="4855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5846552" y="496519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7" name="Shape 75"/>
          <p:cNvSpPr/>
          <p:nvPr/>
        </p:nvSpPr>
        <p:spPr>
          <a:xfrm>
            <a:off x="16157448" y="496519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8" name="Shape 76"/>
          <p:cNvSpPr/>
          <p:nvPr/>
        </p:nvSpPr>
        <p:spPr>
          <a:xfrm>
            <a:off x="16468344" y="4965192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6852392" y="48554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1393424" y="5257800"/>
            <a:ext cx="6291072" cy="402336"/>
          </a:xfrm>
          <a:prstGeom prst="rect">
            <a:avLst/>
          </a:prstGeom>
          <a:solidFill>
            <a:srgbClr val="E9F1F1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1539728" y="525780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endpoint fit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15115032" y="52578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5846552" y="536752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84" name="Shape 82"/>
          <p:cNvSpPr/>
          <p:nvPr/>
        </p:nvSpPr>
        <p:spPr>
          <a:xfrm>
            <a:off x="16157448" y="536752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85" name="Shape 83"/>
          <p:cNvSpPr/>
          <p:nvPr/>
        </p:nvSpPr>
        <p:spPr>
          <a:xfrm>
            <a:off x="16468344" y="5367528"/>
            <a:ext cx="256032" cy="182880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6852392" y="52578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1521440" y="5751576"/>
            <a:ext cx="6035040" cy="18288"/>
          </a:xfrm>
          <a:prstGeom prst="rect">
            <a:avLst/>
          </a:prstGeom>
          <a:solidFill>
            <a:srgbClr val="317A80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152144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LSB portfolio lane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16002000" y="5806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/ 3.00</a:t>
            </a:r>
            <a:endParaRPr lang="en-US" sz="1500" dirty="0"/>
          </a:p>
        </p:txBody>
      </p:sp>
      <p:sp>
        <p:nvSpPr>
          <p:cNvPr id="90" name="Text 88"/>
          <p:cNvSpPr txBox="1"/>
          <p:nvPr/>
        </p:nvSpPr>
        <p:spPr>
          <a:xfrm>
            <a:off x="11521440" y="6099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 build-to-buy lane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16002000" y="6099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/ 3.00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11338560" y="6675120"/>
            <a:ext cx="6400800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338560" y="6675120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338560" y="6931152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1521440" y="6675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&amp; STAGE-GATE CHECK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11539728" y="7168896"/>
            <a:ext cx="5998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each: modality gate · therapeutic-area gate · IP runway ≥10 yrs · COM patent · available for licensing · IND-cleared or Phase 1 data-ready. Flag every item the source leaves undisclosed rather than assuming a pass.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11338560" y="8485632"/>
            <a:ext cx="64008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DDCD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338560" y="8485632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338560" y="8741664"/>
            <a:ext cx="6400800" cy="164592"/>
          </a:xfrm>
          <a:prstGeom prst="rect">
            <a:avLst/>
          </a:prstGeom>
          <a:solidFill>
            <a:srgbClr val="317A80"/>
          </a:solidFill>
          <a:ln w="12700">
            <a:solidFill>
              <a:srgbClr val="317A8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1521440" y="8485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FOR THE CONFIDENTIAL REVIEW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11539728" y="8979408"/>
            <a:ext cx="5998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whose answers would change the recommendation.</a:t>
            </a:r>
            <a:endParaRPr lang="en-US" sz="1250" dirty="0"/>
          </a:p>
        </p:txBody>
      </p:sp>
      <p:sp>
        <p:nvSpPr>
          <p:cNvPr id="102" name="Text 100"/>
          <p:cNvSpPr txBox="1"/>
          <p:nvPr/>
        </p:nvSpPr>
        <p:spPr>
          <a:xfrm>
            <a:off x="548640" y="9893808"/>
            <a:ext cx="1371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LevelSet Bio — Asset Triage Scorecard   |   Scoring rubric per LSB Disease Priorities for Acquisition (7.17.26)</a:t>
            </a:r>
            <a:endParaRPr lang="en-US" sz="1100" dirty="0"/>
          </a:p>
        </p:txBody>
      </p:sp>
      <p:sp>
        <p:nvSpPr>
          <p:cNvPr id="103" name="Text 101"/>
          <p:cNvSpPr txBox="1"/>
          <p:nvPr/>
        </p:nvSpPr>
        <p:spPr>
          <a:xfrm>
            <a:off x="17373600" y="9893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LSB Asset Scorecards</dc:title>
  <dc:subject>PptxGenJS Presentation</dc:subject>
  <dc:creator>LevelSet Bio</dc:creator>
  <cp:lastModifiedBy>LevelSet Bio</cp:lastModifiedBy>
  <cp:revision>1</cp:revision>
  <dcterms:created xsi:type="dcterms:W3CDTF">2026-09-09T01:17:42Z</dcterms:created>
  <dcterms:modified xsi:type="dcterms:W3CDTF">2026-09-09T01:17:42Z</dcterms:modified>
</cp:coreProperties>
</file>