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417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ASP2616  —  DGKζ Inhibitor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417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Astellas  ·  Small molecule, oral (10 mg / 50 mg tablets)  ·  Advanced solid tumors  ·  Source: ASP2616 non-confidential summary, v. 12-Jun-2026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200400" cy="457200"/>
          </a:xfrm>
          <a:prstGeom prst="roundRect">
            <a:avLst>
              <a:gd name="adj" fmla="val 16000"/>
            </a:avLst>
          </a:prstGeom>
          <a:solidFill>
            <a:srgbClr val="E9F1F1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" y="1417320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SCORE  </a:t>
            </a:r>
            <a:pPr indent="0" marL="0">
              <a:buNone/>
            </a:pPr>
            <a:r>
              <a:rPr lang="en-US" sz="14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1.85 / 3.00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977640" y="1417320"/>
            <a:ext cx="4297680" cy="457200"/>
          </a:xfrm>
          <a:prstGeom prst="roundRect">
            <a:avLst>
              <a:gd name="adj" fmla="val 16000"/>
            </a:avLst>
          </a:prstGeom>
          <a:solidFill>
            <a:srgbClr val="FBEAEC"/>
          </a:solidFill>
          <a:ln w="12700">
            <a:solidFill>
              <a:srgbClr val="E8BFC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23944" y="141732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00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GATE  </a:t>
            </a:r>
            <a:pPr indent="0" marL="0">
              <a:buNone/>
            </a:pPr>
            <a:r>
              <a:rPr lang="en-US" sz="1400" b="1" dirty="0">
                <a:solidFill>
                  <a:srgbClr val="B00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 — Roche B2B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503920" y="1417320"/>
            <a:ext cx="3977640" cy="457200"/>
          </a:xfrm>
          <a:prstGeom prst="roundRect">
            <a:avLst>
              <a:gd name="adj" fmla="val 16000"/>
            </a:avLst>
          </a:prstGeom>
          <a:solidFill>
            <a:srgbClr val="FCF3E6"/>
          </a:solidFill>
          <a:ln w="12700">
            <a:solidFill>
              <a:srgbClr val="EAD5B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50224" y="141732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5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 </a:t>
            </a:r>
            <a:pPr indent="0" marL="0">
              <a:buNone/>
            </a:pPr>
            <a:r>
              <a:rPr lang="en-US" sz="1400" b="1" dirty="0">
                <a:solidFill>
                  <a:srgbClr val="9A5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 lapsed 08-May-26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710160" y="1417320"/>
            <a:ext cx="3017520" cy="457200"/>
          </a:xfrm>
          <a:prstGeom prst="roundRect">
            <a:avLst>
              <a:gd name="adj" fmla="val 16000"/>
            </a:avLst>
          </a:prstGeom>
          <a:solidFill>
            <a:srgbClr val="E9F1F1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856464" y="141732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RUNWAY  </a:t>
            </a:r>
            <a:pPr indent="0" marL="0">
              <a:buNone/>
            </a:pPr>
            <a:r>
              <a:rPr lang="en-US" sz="14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2041 / 2043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057400"/>
            <a:ext cx="5074920" cy="1883664"/>
          </a:xfrm>
          <a:prstGeom prst="roundRect">
            <a:avLst>
              <a:gd name="adj" fmla="val 2427"/>
            </a:avLst>
          </a:prstGeom>
          <a:solidFill>
            <a:srgbClr val="F6FAFA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2167128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7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&amp; mechanism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" y="2478024"/>
            <a:ext cx="46725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DGKζ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(diacylglycerol kinase zeta) — intracellular negative regulator of TCR signaling that converts DAG to phosphatidic acid. Inhibition sustains DAG-driven RAS/ERK/AP-1 and PKCθ/IKK/NF-κB signaling, restoring T-cell activation </a:t>
            </a:r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downstream of and independent from PD-1 blockade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2057400"/>
            <a:ext cx="5074920" cy="1883664"/>
          </a:xfrm>
          <a:prstGeom prst="roundRect">
            <a:avLst>
              <a:gd name="adj" fmla="val 2427"/>
            </a:avLst>
          </a:prstGeom>
          <a:solidFill>
            <a:srgbClr val="F6FAFA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90488" y="2167128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7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190488" y="2478024"/>
            <a:ext cx="46725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approved DGKζ inhibitor. Bayer and BMS each hold one Phase 1 asset; class has shown </a:t>
            </a:r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B00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neurotoxicity and only moderate efficacy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differentiators that decide the winner: brain penetrance / CNS safety margin, and DGKζ-vs-DGKα selectivity. Note: first-in-class mechanism — in tension with the best-in-class-only criterion.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142232"/>
            <a:ext cx="5074920" cy="1883664"/>
          </a:xfrm>
          <a:prstGeom prst="roundRect">
            <a:avLst>
              <a:gd name="adj" fmla="val 2427"/>
            </a:avLst>
          </a:prstGeom>
          <a:solidFill>
            <a:srgbClr val="F6FAFA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425196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7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4562856"/>
            <a:ext cx="46725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PD-1-resistant solid tumors — NSCLC, melanoma, RCC, HNSCC and selected gastric / other tumors. Addressable market </a:t>
            </a:r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$1.5–3B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Monotherapy vs. IO-combination positioning is unresolved; a combination path adds checkpoint-partner dependency and dilutes the mono &gt; combo preference in the thesis.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89320" y="4142232"/>
            <a:ext cx="5074920" cy="1883664"/>
          </a:xfrm>
          <a:prstGeom prst="roundRect">
            <a:avLst>
              <a:gd name="adj" fmla="val 2427"/>
            </a:avLst>
          </a:prstGeom>
          <a:solidFill>
            <a:srgbClr val="F6FAFA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90488" y="425196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7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190488" y="4562856"/>
            <a:ext cx="46725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WO-2022114164 (filed 29-Nov-2021) and WO-2023248109 (filed 19-Jun-2023) → nominal expiry </a:t>
            </a:r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2041 / 2043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15+ year runway clears the ≥10-year stage gate. Non-con does not state the COM vs. MOU split, national-phase status, or FTO position — confirm in the confidential review.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6227064"/>
            <a:ext cx="5074920" cy="1883664"/>
          </a:xfrm>
          <a:prstGeom prst="roundRect">
            <a:avLst>
              <a:gd name="adj" fmla="val 2427"/>
            </a:avLst>
          </a:prstGeom>
          <a:solidFill>
            <a:srgbClr val="F6FAFA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" y="6336792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0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6647688"/>
            <a:ext cx="46725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 submitted 31-May-2022; study-may-proceed letter 30-Jun-2022. Asset was then deprioritized — </a:t>
            </a:r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site initiation visits, no subject screening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IND inactivated 08-May-2026. Zero human exposure to date; latest development phase is stated as pre-clinical. Reactivation of the IND is required before dosing.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89320" y="6227064"/>
            <a:ext cx="5074920" cy="1883664"/>
          </a:xfrm>
          <a:prstGeom prst="roundRect">
            <a:avLst>
              <a:gd name="adj" fmla="val 2427"/>
            </a:avLst>
          </a:prstGeom>
          <a:solidFill>
            <a:srgbClr val="F6FAFA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90488" y="6336792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190488" y="6647688"/>
            <a:ext cx="46725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 DGKζ inhibition vs. other DGK subtypes; reverses T-cell exhaustion; tumor growth inhibition in TIL-poor and inflamed syngeneic models. Oral BA moderate–high; CYP2D6/3A4 metabolism with time-dependent CYP2D6 inhibition. Non-genotoxic; 4-week rat and cyno tox findings reversible.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8485632"/>
            <a:ext cx="10515600" cy="1298448"/>
          </a:xfrm>
          <a:prstGeom prst="roundRect">
            <a:avLst>
              <a:gd name="adj" fmla="val 3521"/>
            </a:avLst>
          </a:prstGeom>
          <a:solidFill>
            <a:srgbClr val="E9F1F1"/>
          </a:solidFill>
          <a:ln w="15875">
            <a:solidFill>
              <a:srgbClr val="317A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9808" y="8577072"/>
            <a:ext cx="10113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17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STEP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" y="8851392"/>
            <a:ext cx="10113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the confidential package and run initial technical diligence (2–3 h oncology non-clinical + clinical SME review). </a:t>
            </a:r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the Roche build-to-buy lane, not an LSB portfolio slot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oncology spots are reserved. Advance only if the confidential data clear three gates: (1) brain penetrance and CNS safety margin vs. Bayer/BMS, (2) DGKζ-vs-DGKα selectivity, (3) a costed IND-reactivation path.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338560" y="2057400"/>
            <a:ext cx="6400800" cy="4389120"/>
          </a:xfrm>
          <a:prstGeom prst="roundRect">
            <a:avLst>
              <a:gd name="adj" fmla="val 1042"/>
            </a:avLst>
          </a:prstGeom>
          <a:solidFill>
            <a:srgbClr val="FFFFFF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338560" y="2057400"/>
            <a:ext cx="6400800" cy="420624"/>
          </a:xfrm>
          <a:prstGeom prst="roundRect">
            <a:avLst>
              <a:gd name="adj" fmla="val 10870"/>
            </a:avLst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338560" y="2313432"/>
            <a:ext cx="6400800" cy="164592"/>
          </a:xfrm>
          <a:prstGeom prst="rect">
            <a:avLst/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1521440" y="205740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TRIAGE SCORE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1539728" y="2532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5115032" y="25328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15846552" y="25328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0-3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16852392" y="253288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1393424" y="2843784"/>
            <a:ext cx="6291072" cy="402336"/>
          </a:xfrm>
          <a:prstGeom prst="rect">
            <a:avLst/>
          </a:prstGeom>
          <a:solidFill>
            <a:srgbClr val="E9F1F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1539728" y="2843784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stage &amp; POC feasibility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5115032" y="2843784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15846552" y="2953512"/>
            <a:ext cx="256032" cy="182880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45" name="Shape 43"/>
          <p:cNvSpPr/>
          <p:nvPr/>
        </p:nvSpPr>
        <p:spPr>
          <a:xfrm>
            <a:off x="16157448" y="2953512"/>
            <a:ext cx="256032" cy="182880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46" name="Shape 44"/>
          <p:cNvSpPr/>
          <p:nvPr/>
        </p:nvSpPr>
        <p:spPr>
          <a:xfrm>
            <a:off x="16468344" y="2953512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6852392" y="284378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0.40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11539728" y="324612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0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Therapeutic-area fit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15115032" y="3246120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15846552" y="3355848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51" name="Shape 49"/>
          <p:cNvSpPr/>
          <p:nvPr/>
        </p:nvSpPr>
        <p:spPr>
          <a:xfrm>
            <a:off x="16157448" y="3355848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52" name="Shape 50"/>
          <p:cNvSpPr/>
          <p:nvPr/>
        </p:nvSpPr>
        <p:spPr>
          <a:xfrm>
            <a:off x="16468344" y="3355848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6852392" y="324612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0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1393424" y="3648456"/>
            <a:ext cx="6291072" cy="402336"/>
          </a:xfrm>
          <a:prstGeom prst="rect">
            <a:avLst/>
          </a:prstGeom>
          <a:solidFill>
            <a:srgbClr val="E9F1F1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1539728" y="3648456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Translational readiness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15115032" y="3648456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15846552" y="3758184"/>
            <a:ext cx="256032" cy="182880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58" name="Shape 56"/>
          <p:cNvSpPr/>
          <p:nvPr/>
        </p:nvSpPr>
        <p:spPr>
          <a:xfrm>
            <a:off x="16157448" y="3758184"/>
            <a:ext cx="256032" cy="182880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59" name="Shape 57"/>
          <p:cNvSpPr/>
          <p:nvPr/>
        </p:nvSpPr>
        <p:spPr>
          <a:xfrm>
            <a:off x="16468344" y="3758184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16852392" y="3648456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11539728" y="4050792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Differentiation &amp; unmet need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15115032" y="4050792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15846552" y="4160520"/>
            <a:ext cx="256032" cy="182880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64" name="Shape 62"/>
          <p:cNvSpPr/>
          <p:nvPr/>
        </p:nvSpPr>
        <p:spPr>
          <a:xfrm>
            <a:off x="16157448" y="4160520"/>
            <a:ext cx="256032" cy="182880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65" name="Shape 63"/>
          <p:cNvSpPr/>
          <p:nvPr/>
        </p:nvSpPr>
        <p:spPr>
          <a:xfrm>
            <a:off x="16468344" y="4160520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6852392" y="405079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0.40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1393424" y="4453128"/>
            <a:ext cx="6291072" cy="402336"/>
          </a:xfrm>
          <a:prstGeom prst="rect">
            <a:avLst/>
          </a:prstGeom>
          <a:solidFill>
            <a:srgbClr val="E9F1F1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1539728" y="445312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strength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15115032" y="4453128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5846552" y="4562856"/>
            <a:ext cx="256032" cy="182880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71" name="Shape 69"/>
          <p:cNvSpPr/>
          <p:nvPr/>
        </p:nvSpPr>
        <p:spPr>
          <a:xfrm>
            <a:off x="16157448" y="4562856"/>
            <a:ext cx="256032" cy="182880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72" name="Shape 70"/>
          <p:cNvSpPr/>
          <p:nvPr/>
        </p:nvSpPr>
        <p:spPr>
          <a:xfrm>
            <a:off x="16468344" y="4562856"/>
            <a:ext cx="256032" cy="182880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6852392" y="445312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11539728" y="4855464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 economics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15115032" y="4855464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15846552" y="4965192"/>
            <a:ext cx="256032" cy="182880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77" name="Shape 75"/>
          <p:cNvSpPr/>
          <p:nvPr/>
        </p:nvSpPr>
        <p:spPr>
          <a:xfrm>
            <a:off x="16157448" y="4965192"/>
            <a:ext cx="256032" cy="182880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78" name="Shape 76"/>
          <p:cNvSpPr/>
          <p:nvPr/>
        </p:nvSpPr>
        <p:spPr>
          <a:xfrm>
            <a:off x="16468344" y="4965192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6852392" y="485546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11393424" y="5257800"/>
            <a:ext cx="6291072" cy="402336"/>
          </a:xfrm>
          <a:prstGeom prst="rect">
            <a:avLst/>
          </a:prstGeom>
          <a:solidFill>
            <a:srgbClr val="E9F1F1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1539728" y="525780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&amp; endpoint fit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15115032" y="5257800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15846552" y="5367528"/>
            <a:ext cx="256032" cy="182880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84" name="Shape 82"/>
          <p:cNvSpPr/>
          <p:nvPr/>
        </p:nvSpPr>
        <p:spPr>
          <a:xfrm>
            <a:off x="16157448" y="5367528"/>
            <a:ext cx="256032" cy="182880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85" name="Shape 83"/>
          <p:cNvSpPr/>
          <p:nvPr/>
        </p:nvSpPr>
        <p:spPr>
          <a:xfrm>
            <a:off x="16468344" y="5367528"/>
            <a:ext cx="256032" cy="182880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6852392" y="525780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0.15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11356848" y="5751576"/>
            <a:ext cx="6364224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Shape 86"/>
          <p:cNvSpPr/>
          <p:nvPr/>
        </p:nvSpPr>
        <p:spPr>
          <a:xfrm>
            <a:off x="11521440" y="5751576"/>
            <a:ext cx="6035040" cy="18288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11521440" y="5806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LSB portfolio lane</a:t>
            </a:r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(oncology gate applied)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16002000" y="5806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0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1.85 / 3.00</a:t>
            </a:r>
            <a:endParaRPr lang="en-US" sz="1500" dirty="0"/>
          </a:p>
        </p:txBody>
      </p:sp>
      <p:sp>
        <p:nvSpPr>
          <p:cNvPr id="91" name="Text 89"/>
          <p:cNvSpPr txBox="1"/>
          <p:nvPr/>
        </p:nvSpPr>
        <p:spPr>
          <a:xfrm>
            <a:off x="11521440" y="60990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Roche build-to-buy lane</a:t>
            </a:r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(oncology is in scope)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6002000" y="60990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 / 3.00</a:t>
            </a:r>
            <a:endParaRPr lang="en-US" sz="1500" dirty="0"/>
          </a:p>
        </p:txBody>
      </p:sp>
      <p:sp>
        <p:nvSpPr>
          <p:cNvPr id="93" name="Shape 91"/>
          <p:cNvSpPr/>
          <p:nvPr/>
        </p:nvSpPr>
        <p:spPr>
          <a:xfrm>
            <a:off x="11338560" y="6675120"/>
            <a:ext cx="6400800" cy="1627632"/>
          </a:xfrm>
          <a:prstGeom prst="roundRect">
            <a:avLst>
              <a:gd name="adj" fmla="val 2809"/>
            </a:avLst>
          </a:prstGeom>
          <a:solidFill>
            <a:srgbClr val="FFFFFF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1338560" y="6675120"/>
            <a:ext cx="6400800" cy="420624"/>
          </a:xfrm>
          <a:prstGeom prst="roundRect">
            <a:avLst>
              <a:gd name="adj" fmla="val 10870"/>
            </a:avLst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1338560" y="6931152"/>
            <a:ext cx="6400800" cy="164592"/>
          </a:xfrm>
          <a:prstGeom prst="rect">
            <a:avLst/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1521440" y="66751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&amp; STAGE-GATE CHECK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11539728" y="7168896"/>
            <a:ext cx="599846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molecule, oral — modality gate passed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B00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⚑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Oncology solid tumor — hard gate → Roche build-to-buy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runway 15+ yrs; non-confidential briefing provided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A5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IND-cleared but inactivated — conditional on reactivation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A5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vs. MOU split undisclosed; deal terms unknown</a:t>
            </a:r>
            <a:endParaRPr lang="en-US" sz="1250" dirty="0"/>
          </a:p>
        </p:txBody>
      </p:sp>
      <p:sp>
        <p:nvSpPr>
          <p:cNvPr id="98" name="Shape 96"/>
          <p:cNvSpPr/>
          <p:nvPr/>
        </p:nvSpPr>
        <p:spPr>
          <a:xfrm>
            <a:off x="11338560" y="8485632"/>
            <a:ext cx="640080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1338560" y="8485632"/>
            <a:ext cx="6400800" cy="420624"/>
          </a:xfrm>
          <a:prstGeom prst="roundRect">
            <a:avLst>
              <a:gd name="adj" fmla="val 10870"/>
            </a:avLst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1338560" y="8741664"/>
            <a:ext cx="6400800" cy="164592"/>
          </a:xfrm>
          <a:prstGeom prst="rect">
            <a:avLst/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11521440" y="8485632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QUESTIONS FOR THE CONFIDENTIAL REVIEW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11539728" y="8979408"/>
            <a:ext cx="5998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17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 Kp,uu and CNS NOAEL margin vs. class neurotoxicity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17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DGKζ:DGKα selectivity ratio; biomarker for patient selection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17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drove Astellas' deprioritization — portfolio or data?</a:t>
            </a:r>
            <a:endParaRPr lang="en-US" sz="1250" dirty="0"/>
          </a:p>
        </p:txBody>
      </p:sp>
      <p:sp>
        <p:nvSpPr>
          <p:cNvPr id="103" name="Text 101"/>
          <p:cNvSpPr txBox="1"/>
          <p:nvPr/>
        </p:nvSpPr>
        <p:spPr>
          <a:xfrm>
            <a:off x="548640" y="9893808"/>
            <a:ext cx="1371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LevelSet Bio — Asset Triage Scorecard   |   Scoring rubric per LSB Disease Priorities for Acquisition (7.17.26)</a:t>
            </a:r>
            <a:endParaRPr lang="en-US" sz="1100" dirty="0"/>
          </a:p>
        </p:txBody>
      </p:sp>
      <p:sp>
        <p:nvSpPr>
          <p:cNvPr id="104" name="Text 102"/>
          <p:cNvSpPr txBox="1"/>
          <p:nvPr/>
        </p:nvSpPr>
        <p:spPr>
          <a:xfrm>
            <a:off x="17373600" y="98938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417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Key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417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every asset scorecard in this deck is rated — criteria and weights per LSB Disease Priorities for Acquisition (7.17.26), slide 4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71907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188720"/>
                <a:gridCol w="6172200"/>
                <a:gridCol w="6172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 3 — ideal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 0 — disqualifier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stage &amp; POC feasibility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IND-ready → Phase 2-ready; clinical POC (Phase-2 completion) achievable in &lt;5 years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Discovery-stage, or POC requires Phase 3 / open-ended 8–10 year timeline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Therapeutic-area fit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In-scope, commercially attractive area (immunology, CNS &amp; specialty, select metabolic e.g. obesity/T2D)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Oncology (reserved for Roche) or Phase-3-POC area (MASH, neurodegeneration, cardio-renal)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Translational readiness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Validated MoA with defined, biomarker-driven patient selection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Poorly understood MoA; no biomarker or clinical validation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Differentiation &amp; unmet need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Best-in-class vs. SOC &amp; pipeline; addresses clear unmet need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Marginally differentiated 'me-too'; crowded standard of care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IP strength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Composition-of-matter + FTO; long IP life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 or short IP life; freedom-to-operate risk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Deal economics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upfront, minimal/no royalties; right-sized capital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upfront / heavy royalties; overcapitalized program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Regulatory &amp; endpoint fit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Pharma-aligned endpoints; clear regulatory path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Non-pharma-aligned endpoints; unclear regulatory path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D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1600200"/>
            <a:ext cx="17190720" cy="27432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6858000"/>
            <a:ext cx="83210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6858000"/>
            <a:ext cx="8321040" cy="420624"/>
          </a:xfrm>
          <a:prstGeom prst="roundRect">
            <a:avLst>
              <a:gd name="adj" fmla="val 10870"/>
            </a:avLst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7114032"/>
            <a:ext cx="8321040" cy="164592"/>
          </a:xfrm>
          <a:prstGeom prst="rect">
            <a:avLst/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6858000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GATES  —  AUTO-EXCLUDE REGARDLESS OF SCORE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7388352"/>
            <a:ext cx="7918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00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Non–small-molecule modality (biologics, mAbs, ADCs, RNA, cell &amp; gene)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00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⚑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Oncology assets — reserved for Roche's build-to-buy; scored, then flagged, not dropped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418320" y="6858000"/>
            <a:ext cx="83210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418320" y="6858000"/>
            <a:ext cx="8321040" cy="420624"/>
          </a:xfrm>
          <a:prstGeom prst="roundRect">
            <a:avLst>
              <a:gd name="adj" fmla="val 10870"/>
            </a:avLst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418320" y="7114032"/>
            <a:ext cx="8321040" cy="164592"/>
          </a:xfrm>
          <a:prstGeom prst="rect">
            <a:avLst/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601200" y="6858000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GATES  —  ALL MUST PASS TO ADVANCE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619488" y="7388352"/>
            <a:ext cx="7918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for licensing · ≥10-year IP runway · COM patent · non-confidential briefing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modality (no cell/gene) · IND-cleared or Phase 1 data-ready · no Gensci assets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8458200"/>
            <a:ext cx="17190720" cy="868680"/>
          </a:xfrm>
          <a:prstGeom prst="roundRect">
            <a:avLst>
              <a:gd name="adj" fmla="val 5263"/>
            </a:avLst>
          </a:prstGeom>
          <a:solidFill>
            <a:srgbClr val="E9F1F1"/>
          </a:solidFill>
          <a:ln w="15875">
            <a:solidFill>
              <a:srgbClr val="317A8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8549640"/>
            <a:ext cx="1673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Two-lane scoring.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Oncology assets are scored twice: an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LSB portfolio score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therapeutic-area fit rated 0 (the reservation applied), and a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Roche build-to-buy score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 same criterion rated on merit. The gap between the two numbers is the cost of the reservation — it makes visible which assets are only excluded because the oncology slots are held, and which are weak on their own terms.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9893808"/>
            <a:ext cx="1371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LevelSet Bio — Asset Triage Scorecard   |   Scoring rubric per LSB Disease Priorities for Acquisition (7.17.26)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7373600" y="98938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417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 name  —  target / mechanism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417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Originator  ·  Modality and formulation  ·  Lead indication  ·  Source document and version date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200400" cy="457200"/>
          </a:xfrm>
          <a:prstGeom prst="roundRect">
            <a:avLst>
              <a:gd name="adj" fmla="val 16000"/>
            </a:avLst>
          </a:prstGeom>
          <a:solidFill>
            <a:srgbClr val="E9F1F1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" y="1417320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SCORE  </a:t>
            </a:r>
            <a:pPr indent="0" marL="0">
              <a:buNone/>
            </a:pPr>
            <a:r>
              <a:rPr lang="en-US" sz="14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/ 3.00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977640" y="1417320"/>
            <a:ext cx="4297680" cy="457200"/>
          </a:xfrm>
          <a:prstGeom prst="roundRect">
            <a:avLst>
              <a:gd name="adj" fmla="val 16000"/>
            </a:avLst>
          </a:prstGeom>
          <a:solidFill>
            <a:srgbClr val="E9F1F1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23944" y="141732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GATE  </a:t>
            </a:r>
            <a:pPr indent="0" marL="0">
              <a:buNone/>
            </a:pPr>
            <a:r>
              <a:rPr lang="en-US" sz="14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/ flag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503920" y="1417320"/>
            <a:ext cx="3977640" cy="457200"/>
          </a:xfrm>
          <a:prstGeom prst="roundRect">
            <a:avLst>
              <a:gd name="adj" fmla="val 16000"/>
            </a:avLst>
          </a:prstGeom>
          <a:solidFill>
            <a:srgbClr val="E9F1F1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50224" y="141732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 </a:t>
            </a:r>
            <a:pPr indent="0" marL="0">
              <a:buNone/>
            </a:pPr>
            <a:r>
              <a:rPr lang="en-US" sz="14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phase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710160" y="1417320"/>
            <a:ext cx="3017520" cy="457200"/>
          </a:xfrm>
          <a:prstGeom prst="roundRect">
            <a:avLst>
              <a:gd name="adj" fmla="val 16000"/>
            </a:avLst>
          </a:prstGeom>
          <a:solidFill>
            <a:srgbClr val="E9F1F1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856464" y="141732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RUNWAY  </a:t>
            </a:r>
            <a:pPr indent="0" marL="0">
              <a:buNone/>
            </a:pPr>
            <a:r>
              <a:rPr lang="en-US" sz="1400" b="1" dirty="0">
                <a:solidFill>
                  <a:srgbClr val="22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Expiry year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057400"/>
            <a:ext cx="5074920" cy="1883664"/>
          </a:xfrm>
          <a:prstGeom prst="roundRect">
            <a:avLst>
              <a:gd name="adj" fmla="val 2427"/>
            </a:avLst>
          </a:prstGeom>
          <a:solidFill>
            <a:srgbClr val="F6FAFA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2167128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7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&amp; mechanism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" y="2478024"/>
            <a:ext cx="46725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Target, biology, and why inhibiting or engaging it changes disease course. Modality, route, formulation. Keep to what the source document actually states.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2057400"/>
            <a:ext cx="5074920" cy="1883664"/>
          </a:xfrm>
          <a:prstGeom prst="roundRect">
            <a:avLst>
              <a:gd name="adj" fmla="val 2427"/>
            </a:avLst>
          </a:prstGeom>
          <a:solidFill>
            <a:srgbClr val="F6FAFA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90488" y="2167128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7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190488" y="2478024"/>
            <a:ext cx="46725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agents against the target. Named competitors by phase and sponsor. Class-wide liabilities seen to date. The one or two properties that decide who wins.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142232"/>
            <a:ext cx="5074920" cy="1883664"/>
          </a:xfrm>
          <a:prstGeom prst="roundRect">
            <a:avLst>
              <a:gd name="adj" fmla="val 2427"/>
            </a:avLst>
          </a:prstGeom>
          <a:solidFill>
            <a:srgbClr val="F6FAFA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425196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7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4562856"/>
            <a:ext cx="46725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population and indications. Market size with the basis for the estimate. Monotherapy vs. combination positioning and any partner dependency it creates.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89320" y="4142232"/>
            <a:ext cx="5074920" cy="1883664"/>
          </a:xfrm>
          <a:prstGeom prst="roundRect">
            <a:avLst>
              <a:gd name="adj" fmla="val 2427"/>
            </a:avLst>
          </a:prstGeom>
          <a:solidFill>
            <a:srgbClr val="F6FAFA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90488" y="425196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7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190488" y="4562856"/>
            <a:ext cx="46725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Patent families with filing dates and nominal expiry. COM vs. MOU split. National-phase status, FTO, and any encumbrance. Note explicitly what the source does not disclose.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6227064"/>
            <a:ext cx="5074920" cy="1883664"/>
          </a:xfrm>
          <a:prstGeom prst="roundRect">
            <a:avLst>
              <a:gd name="adj" fmla="val 2427"/>
            </a:avLst>
          </a:prstGeom>
          <a:solidFill>
            <a:srgbClr val="F6FAFA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" y="6336792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7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6647688"/>
            <a:ext cx="46725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filings and dates. Patients dosed, if any. Efficacy and safety read-outs. If the asset has never been in humans, say so plainly rather than implying data exist.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89320" y="6227064"/>
            <a:ext cx="5074920" cy="1883664"/>
          </a:xfrm>
          <a:prstGeom prst="roundRect">
            <a:avLst>
              <a:gd name="adj" fmla="val 2427"/>
            </a:avLst>
          </a:prstGeom>
          <a:solidFill>
            <a:srgbClr val="F6FAFA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90488" y="6336792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7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190488" y="6647688"/>
            <a:ext cx="46725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Pharmacology, in vivo efficacy models, ADME, and toxicology. Reversibility of tox findings. Anything that would gate a first-in-human dose.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8485632"/>
            <a:ext cx="10515600" cy="1298448"/>
          </a:xfrm>
          <a:prstGeom prst="roundRect">
            <a:avLst>
              <a:gd name="adj" fmla="val 3521"/>
            </a:avLst>
          </a:prstGeom>
          <a:solidFill>
            <a:srgbClr val="E9F1F1"/>
          </a:solidFill>
          <a:ln w="15875">
            <a:solidFill>
              <a:srgbClr val="317A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9808" y="8577072"/>
            <a:ext cx="10113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17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STEP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" y="8851392"/>
            <a:ext cx="10113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decision, stated as an action: request the confidential package, pass, or advance to full diligence. Name the lane (LSB portfolio vs. Roche build-to-buy) and the specific gates the confidential data must clear.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338560" y="2057400"/>
            <a:ext cx="6400800" cy="4389120"/>
          </a:xfrm>
          <a:prstGeom prst="roundRect">
            <a:avLst>
              <a:gd name="adj" fmla="val 1042"/>
            </a:avLst>
          </a:prstGeom>
          <a:solidFill>
            <a:srgbClr val="FFFFFF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338560" y="2057400"/>
            <a:ext cx="6400800" cy="420624"/>
          </a:xfrm>
          <a:prstGeom prst="roundRect">
            <a:avLst>
              <a:gd name="adj" fmla="val 10870"/>
            </a:avLst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338560" y="2313432"/>
            <a:ext cx="6400800" cy="164592"/>
          </a:xfrm>
          <a:prstGeom prst="rect">
            <a:avLst/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1521440" y="205740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TRIAGE SCORE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1539728" y="2532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5115032" y="25328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15846552" y="25328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0-3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16852392" y="253288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1393424" y="2843784"/>
            <a:ext cx="6291072" cy="402336"/>
          </a:xfrm>
          <a:prstGeom prst="rect">
            <a:avLst/>
          </a:prstGeom>
          <a:solidFill>
            <a:srgbClr val="E9F1F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1539728" y="2843784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stage &amp; POC feasibility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5115032" y="2843784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15846552" y="2953512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45" name="Shape 43"/>
          <p:cNvSpPr/>
          <p:nvPr/>
        </p:nvSpPr>
        <p:spPr>
          <a:xfrm>
            <a:off x="16157448" y="2953512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46" name="Shape 44"/>
          <p:cNvSpPr/>
          <p:nvPr/>
        </p:nvSpPr>
        <p:spPr>
          <a:xfrm>
            <a:off x="16468344" y="2953512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6852392" y="284378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11539728" y="324612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Therapeutic-area fit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15115032" y="3246120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15846552" y="3355848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51" name="Shape 49"/>
          <p:cNvSpPr/>
          <p:nvPr/>
        </p:nvSpPr>
        <p:spPr>
          <a:xfrm>
            <a:off x="16157448" y="3355848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52" name="Shape 50"/>
          <p:cNvSpPr/>
          <p:nvPr/>
        </p:nvSpPr>
        <p:spPr>
          <a:xfrm>
            <a:off x="16468344" y="3355848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6852392" y="324612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1393424" y="3648456"/>
            <a:ext cx="6291072" cy="402336"/>
          </a:xfrm>
          <a:prstGeom prst="rect">
            <a:avLst/>
          </a:prstGeom>
          <a:solidFill>
            <a:srgbClr val="E9F1F1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1539728" y="3648456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Translational readiness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15115032" y="3648456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15846552" y="3758184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58" name="Shape 56"/>
          <p:cNvSpPr/>
          <p:nvPr/>
        </p:nvSpPr>
        <p:spPr>
          <a:xfrm>
            <a:off x="16157448" y="3758184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59" name="Shape 57"/>
          <p:cNvSpPr/>
          <p:nvPr/>
        </p:nvSpPr>
        <p:spPr>
          <a:xfrm>
            <a:off x="16468344" y="3758184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16852392" y="3648456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11539728" y="4050792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Differentiation &amp; unmet need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15115032" y="4050792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15846552" y="4160520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64" name="Shape 62"/>
          <p:cNvSpPr/>
          <p:nvPr/>
        </p:nvSpPr>
        <p:spPr>
          <a:xfrm>
            <a:off x="16157448" y="4160520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65" name="Shape 63"/>
          <p:cNvSpPr/>
          <p:nvPr/>
        </p:nvSpPr>
        <p:spPr>
          <a:xfrm>
            <a:off x="16468344" y="4160520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6852392" y="405079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1393424" y="4453128"/>
            <a:ext cx="6291072" cy="402336"/>
          </a:xfrm>
          <a:prstGeom prst="rect">
            <a:avLst/>
          </a:prstGeom>
          <a:solidFill>
            <a:srgbClr val="E9F1F1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1539728" y="445312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strength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15115032" y="4453128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5846552" y="4562856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71" name="Shape 69"/>
          <p:cNvSpPr/>
          <p:nvPr/>
        </p:nvSpPr>
        <p:spPr>
          <a:xfrm>
            <a:off x="16157448" y="4562856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16468344" y="4562856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6852392" y="445312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11539728" y="4855464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 economics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15115032" y="4855464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15846552" y="4965192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16157448" y="4965192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16468344" y="4965192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6852392" y="485546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11393424" y="5257800"/>
            <a:ext cx="6291072" cy="402336"/>
          </a:xfrm>
          <a:prstGeom prst="rect">
            <a:avLst/>
          </a:prstGeom>
          <a:solidFill>
            <a:srgbClr val="E9F1F1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1539728" y="525780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&amp; endpoint fit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15115032" y="5257800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15846552" y="5367528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16157448" y="5367528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16468344" y="5367528"/>
            <a:ext cx="256032" cy="182880"/>
          </a:xfrm>
          <a:prstGeom prst="rect">
            <a:avLst/>
          </a:prstGeom>
          <a:solidFill>
            <a:srgbClr val="DCE6E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6852392" y="525780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11521440" y="5751576"/>
            <a:ext cx="6035040" cy="18288"/>
          </a:xfrm>
          <a:prstGeom prst="rect">
            <a:avLst/>
          </a:prstGeom>
          <a:solidFill>
            <a:srgbClr val="317A80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1521440" y="5806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LSB portfolio lane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16002000" y="5806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/ 3.00</a:t>
            </a:r>
            <a:endParaRPr lang="en-US" sz="1500" dirty="0"/>
          </a:p>
        </p:txBody>
      </p:sp>
      <p:sp>
        <p:nvSpPr>
          <p:cNvPr id="90" name="Text 88"/>
          <p:cNvSpPr txBox="1"/>
          <p:nvPr/>
        </p:nvSpPr>
        <p:spPr>
          <a:xfrm>
            <a:off x="11521440" y="60990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Roche build-to-buy lane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6002000" y="60990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/ 3.00</a:t>
            </a:r>
            <a:endParaRPr lang="en-US" sz="1500" dirty="0"/>
          </a:p>
        </p:txBody>
      </p:sp>
      <p:sp>
        <p:nvSpPr>
          <p:cNvPr id="92" name="Shape 90"/>
          <p:cNvSpPr/>
          <p:nvPr/>
        </p:nvSpPr>
        <p:spPr>
          <a:xfrm>
            <a:off x="11338560" y="6675120"/>
            <a:ext cx="6400800" cy="1627632"/>
          </a:xfrm>
          <a:prstGeom prst="roundRect">
            <a:avLst>
              <a:gd name="adj" fmla="val 2809"/>
            </a:avLst>
          </a:prstGeom>
          <a:solidFill>
            <a:srgbClr val="FFFFFF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1338560" y="6675120"/>
            <a:ext cx="6400800" cy="420624"/>
          </a:xfrm>
          <a:prstGeom prst="roundRect">
            <a:avLst>
              <a:gd name="adj" fmla="val 10870"/>
            </a:avLst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1338560" y="6931152"/>
            <a:ext cx="6400800" cy="164592"/>
          </a:xfrm>
          <a:prstGeom prst="rect">
            <a:avLst/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11521440" y="66751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&amp; STAGE-GATE CHECK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1539728" y="7168896"/>
            <a:ext cx="599846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each: modality gate · therapeutic-area gate · IP runway ≥10 yrs · COM patent · available for licensing · IND-cleared or Phase 1 data-ready. Flag every item the source leaves undisclosed rather than assuming a pass.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11338560" y="8485632"/>
            <a:ext cx="640080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12700">
            <a:solidFill>
              <a:srgbClr val="CDDCD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1338560" y="8485632"/>
            <a:ext cx="6400800" cy="420624"/>
          </a:xfrm>
          <a:prstGeom prst="roundRect">
            <a:avLst>
              <a:gd name="adj" fmla="val 10870"/>
            </a:avLst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1338560" y="8741664"/>
            <a:ext cx="6400800" cy="164592"/>
          </a:xfrm>
          <a:prstGeom prst="rect">
            <a:avLst/>
          </a:prstGeom>
          <a:solidFill>
            <a:srgbClr val="317A80"/>
          </a:solidFill>
          <a:ln w="12700">
            <a:solidFill>
              <a:srgbClr val="317A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11521440" y="8485632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QUESTIONS FOR THE CONFIDENTIAL REVIEW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11539728" y="8979408"/>
            <a:ext cx="5998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questions whose answers would change the recommendation.</a:t>
            </a:r>
            <a:endParaRPr lang="en-US" sz="1250" dirty="0"/>
          </a:p>
        </p:txBody>
      </p:sp>
      <p:sp>
        <p:nvSpPr>
          <p:cNvPr id="102" name="Text 100"/>
          <p:cNvSpPr txBox="1"/>
          <p:nvPr/>
        </p:nvSpPr>
        <p:spPr>
          <a:xfrm>
            <a:off x="548640" y="9893808"/>
            <a:ext cx="1371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LevelSet Bio — Asset Triage Scorecard   |   Scoring rubric per LSB Disease Priorities for Acquisition (7.17.26)</a:t>
            </a:r>
            <a:endParaRPr lang="en-US" sz="1100" dirty="0"/>
          </a:p>
        </p:txBody>
      </p:sp>
      <p:sp>
        <p:nvSpPr>
          <p:cNvPr id="103" name="Text 101"/>
          <p:cNvSpPr txBox="1"/>
          <p:nvPr/>
        </p:nvSpPr>
        <p:spPr>
          <a:xfrm>
            <a:off x="17373600" y="98938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LSB Asset Scorecards</dc:title>
  <dc:subject>PptxGenJS Presentation</dc:subject>
  <dc:creator>LevelSet Bio</dc:creator>
  <cp:lastModifiedBy>LevelSet Bio</cp:lastModifiedBy>
  <cp:revision>1</cp:revision>
  <dcterms:created xsi:type="dcterms:W3CDTF">2026-09-09T00:45:09Z</dcterms:created>
  <dcterms:modified xsi:type="dcterms:W3CDTF">2026-09-09T00:45:09Z</dcterms:modified>
</cp:coreProperties>
</file>